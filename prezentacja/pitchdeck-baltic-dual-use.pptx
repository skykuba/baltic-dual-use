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6673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5B6673"/>
                </a:solidFill>
                <a:latin typeface="Calibri"/>
              </a:rPr>
              <a:t>błąd pozycji jako % przebytej drogi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Błąd pozycji</c:v>
                </c:pt>
              </c:strCache>
            </c:strRef>
          </c:tx>
          <c:spPr>
            <a:solidFill>
              <a:srgbClr val="5B6673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B0F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67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Bez mapy</c:v>
                  </c:pt>
                  <c:pt idx="1">
                    <c:v>Z mapą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4.11</c:v>
                </c:pt>
                <c:pt idx="1">
                  <c:v>0.34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0B0F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0F1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[0:00–0:35] Jesteśmy baltic-dual-use i rozwiązujemy jeden problem: jak żołnierz ma wiedzieć, gdzie jest, kiedy GPS nie działa. Nie zaczynam od technologii, bo problem jest już teraz i tutaj. W sierpniu tego roku zakłócenia GNSS wystąpiły nad Polską w 63 procentach dni. W maju i czerwcu w siedemdziesięciu. Nad Pomorzem, w samym lipcu, blisko dziewięćdziesiąt godzin. Spoofing z Kaliningradu sięga czterystu pięćdziesięciu kilometrów, a w sierpniu zagłuszono ORP Albatros podczas operacji na Bałtyku. To nie scenariusz na wypadek wojny — to warunki pracy.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[0:35–0:55] Rynek Assured PNT to dziś miliard sto milionów dolarów, w 2035 ponad dziesięć. Ale spójrzcie, co się na nim sprzedaje. Największy gracz w naszym segmencie ma kontrakt na czterysta milionów — na urządzenia montowane na bucie żołnierza. Wszyscy sprzedają sprzęt. Nasza teza jest inna: dziewięćdziesiąt procent tej wartości da się dostarczyć jako oprogramowanie, na czujnikach, które żołnierz już nosi w kieszeni.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[0:55–1:20] Model jest prosty: roczna licencja na użytkownika plus projekt wdrożeniowy. Żadnego sprzętu do kupienia — czujniki są już w kieszeni żołnierza, więc jednostka nie potrzebuje nakładów inwestycyjnych ani przetargu na urządzenia. Wdrożenie liczy się w tygodniach, a nie w latach, i aktualizujemy zdalnie całą jednostkę naraz.
I najważniejsze: to jest dual-use w dosłownym sensie. Ten sam kod działa dla straży granicznej, dla ratownictwa górskiego i morskiego, dla strażaka w zadymionym budynku. Rynek cywilny finansuje rozwój, wojskowy go waliduje.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[1:20–2:20] DEMO — 60 sekund, cztery ruchy.
1. Zagłuszam GNSS. „I w tym momencie Kaliningrad włącza walkę elektroniczną.” Estymata zmienia kolor, pojawia się chmura cząstek.
2. Daję jej odpłynąć kilkanaście sekund. Pokazuję panel: błąd rośnie, okrąg niepewności puchnie, odczytuję procent przebytej drogi.
3. Wyłączam map matching — estymata zaczyna odpływać wyraźnie szybciej. Włączam z powrotem, wraca na ulice. To jest najkrótszy sposób, żeby pokazać, co mapa naprawdę wnosi.
4. „Żołnierz rozpoznaje skrzyżowanie.” Jedno dotknięcie mapy — chmura kolapsuje, błąd spada do zera.
Jeśli zostaje czas: wyznaczam trasę do szpitala. „I stąd system prowadzi go do punktu medycznego — bez sieci i bez GPS.”
Gdyby padło pytanie o oszustwo: ground truth jest w strumieniu, ale estymator go nie widzi — trafia wyłącznie na front, żeby narysować szarą linię i policzyć błąd.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[2:20–2:45] Jedna liczba, którą warto zapamiętać: dopasowanie do mapy zbija błąd pozycji o dziewięćdziesiąt dwa procent — z czterech procent przebytej drogi do trzydziestu czterech setnych. Osiem przebiegów na osiem. Dla porównania najlepsze rozwiązanie sprzętowe opisane w literaturze osiąga od trzydziestu dwóch setnych do jednego procenta — jesteśmy w tym samym rzędzie wielkości, na telefonie.
I mówię wprost, gdzie to nie działa: gdy żołnierz schodzi z sieci dróg, mapa przestaje pomagać. Dlatego korekcja ręczna nie jest dodatkiem, tylko częścią konstrukcji.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[2:45–3:00] Każda liczba, którą pokazałem, jest odtwarzalna jednym poleceniem — mamy osiem skryptów pomiarowych. Następny krok to surowe dane z prawdziwego telefonu przez ten sam łańcuch. Szukamy pilota z jednostką działającą w terenie zakłócanym. Zakłócenia GNSS to warunki pracy, nie awaria — a nasza odpowiedź nie wymaga nowego sprzętu. Dziękuję.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Nawigacja bez GPS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Pozycja żołnierza, gdy GNSS jest zagłuszony — na telefonie, który już ma.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571232" y="475488"/>
            <a:ext cx="786384" cy="786384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30739" y="734995"/>
            <a:ext cx="267371" cy="267371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70064" y="274320"/>
            <a:ext cx="1188720" cy="1188720"/>
          </a:xfrm>
          <a:prstGeom prst="ellipse">
            <a:avLst/>
          </a:prstGeom>
          <a:ln w="12700">
            <a:solidFill>
              <a:srgbClr val="F59E0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02920" y="1691640"/>
            <a:ext cx="1874520" cy="1645920"/>
          </a:xfrm>
          <a:prstGeom prst="roundRect">
            <a:avLst>
              <a:gd name="adj" fmla="val 4444"/>
            </a:avLst>
          </a:prstGeom>
          <a:solidFill>
            <a:srgbClr val="141C24"/>
          </a:solidFill>
          <a:ln w="12700">
            <a:solidFill>
              <a:srgbClr val="141C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" y="186537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059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dni z zakłóceniami GNSS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 Polską, sierpień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9464" y="1691640"/>
            <a:ext cx="1874520" cy="1645920"/>
          </a:xfrm>
          <a:prstGeom prst="roundRect">
            <a:avLst>
              <a:gd name="adj" fmla="val 4444"/>
            </a:avLst>
          </a:prstGeom>
          <a:solidFill>
            <a:srgbClr val="141C24"/>
          </a:solidFill>
          <a:ln w="12700">
            <a:solidFill>
              <a:srgbClr val="141C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34056" y="186537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900" dirty="0"/>
          </a:p>
        </p:txBody>
      </p:sp>
      <p:sp>
        <p:nvSpPr>
          <p:cNvPr id="12" name="Text 10"/>
          <p:cNvSpPr txBox="1"/>
          <p:nvPr/>
        </p:nvSpPr>
        <p:spPr>
          <a:xfrm>
            <a:off x="2734056" y="245059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dni w maju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czerwcu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36008" y="1691640"/>
            <a:ext cx="1874520" cy="1645920"/>
          </a:xfrm>
          <a:prstGeom prst="roundRect">
            <a:avLst>
              <a:gd name="adj" fmla="val 4444"/>
            </a:avLst>
          </a:prstGeom>
          <a:solidFill>
            <a:srgbClr val="141C24"/>
          </a:solidFill>
          <a:ln w="12700">
            <a:solidFill>
              <a:srgbClr val="141C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186537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 h</a:t>
            </a:r>
            <a:endParaRPr lang="en-US" sz="29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45059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zakłóceń nad Pomorzem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samym lipcu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02552" y="1691640"/>
            <a:ext cx="1874520" cy="1645920"/>
          </a:xfrm>
          <a:prstGeom prst="roundRect">
            <a:avLst>
              <a:gd name="adj" fmla="val 4444"/>
            </a:avLst>
          </a:prstGeom>
          <a:solidFill>
            <a:srgbClr val="141C24"/>
          </a:solidFill>
          <a:ln w="12700">
            <a:solidFill>
              <a:srgbClr val="141C2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67144" y="186537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km</a:t>
            </a:r>
            <a:endParaRPr lang="en-US" sz="2900" dirty="0"/>
          </a:p>
        </p:txBody>
      </p:sp>
      <p:sp>
        <p:nvSpPr>
          <p:cNvPr id="18" name="Text 16"/>
          <p:cNvSpPr txBox="1"/>
          <p:nvPr/>
        </p:nvSpPr>
        <p:spPr>
          <a:xfrm>
            <a:off x="6867144" y="245059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zasięg spoofingu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Kaliningradu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61188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141C24"/>
          </a:solidFill>
          <a:ln w="12700">
            <a:solidFill>
              <a:srgbClr val="141C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803904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tym samym sierpniu zagłuszono ORP Albatros podczas operacji na Bałtyku.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nie jest scenariusz na wypadek wojny. To środowisko, w którym polski żołnierz pracuje przez większość dni w miesiącu.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Wszyscy sprzedają sprzęt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241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Rynek Assured PNT: 1,1 mld USD dziś → 10,2 mld w 2035 (CAGR 28,4%). Obronność to 60,7% tego rynku.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Konkurencja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3429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TRX Systems — 402,5 mln USD kontraktu na DAPS Gen II dla US Army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PNI Sensor — moduły do śledzenia żołnierza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Dedykowane urządzenia, montaż na bucie, tysiące dolarów za sztukę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Cykl zakupowy liczony w latach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572768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0" y="1783080"/>
            <a:ext cx="384048" cy="384048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7736" y="1909816"/>
            <a:ext cx="130576" cy="13057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Nasza teza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212848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wartości da się dostarczyć jako software — na czujnikach, które armia już ma w kieszeni.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3493008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Różnica między „kupcie dwa tysiące urządzeń” a „zainstalujcie aplikację na sprzęcie, który już macie”.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Licencja zamiast urządzenia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058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Konkurent sprzedaje sprzęt za tysiące dolarów na żołnierza, z cyklem zakupowym liczonym w latach. My sprzedajemy dostęp do oprogramowania na sprzęcie, który jednostka już ma.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828800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8136" y="18013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Skąd przychód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212848"/>
            <a:ext cx="21214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Roczna licencja na użytkownika.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wdrożeniowy: integracja z systemem łączności jednostki i przygotowanie obszaru operacji.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Wsparcie i aktualizacje.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73552" y="1627632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11296" y="1828800"/>
            <a:ext cx="237744" cy="23774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58768" y="18013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Dlaczego wygrywa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511296" y="2212848"/>
            <a:ext cx="21214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nakładów na sprzęt — czujniki są w kieszeni żołnierza.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Wdrożenie w tygodniach, nie w latach.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Aktualizacja zdalna dla całej jednostki naraz.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44184" y="1627632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1928" y="1828800"/>
            <a:ext cx="237744" cy="23774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18013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Dual-use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281928" y="2212848"/>
            <a:ext cx="21214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Wojsko i straż graniczna.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Ratownictwo górskie i morskie, straż pożarna w zadymionym budynku.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Służby kryzysowe i przemysł.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sam kod, inny mundur.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na żywo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2412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spodem trzy warstwy: inercja z czujników telefonu, dopasowanie do siatki ulic z OpenStreetMap i człowiek w pętli. Wszystko offline.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141C24"/>
          </a:solidFill>
          <a:ln w="12700">
            <a:solidFill>
              <a:srgbClr val="141C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1847088"/>
            <a:ext cx="420624" cy="4206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" y="1901952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359152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Zagłusz GNSS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816352"/>
            <a:ext cx="1517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Estymata odrywa się od prawdy, pojawia się chmura cząstek.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9464" y="164592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141C24"/>
          </a:solidFill>
          <a:ln w="12700">
            <a:solidFill>
              <a:srgbClr val="141C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184708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88920" y="1901952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70632" y="2359152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Patrz na dryf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70632" y="2816352"/>
            <a:ext cx="1517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Okrąg niepewności puchnie, panel liczy % przebytej drogi.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36008" y="164592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141C24"/>
          </a:solidFill>
          <a:ln w="12700">
            <a:solidFill>
              <a:srgbClr val="141C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55464" y="1847088"/>
            <a:ext cx="420624" cy="42062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55464" y="1901952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37176" y="2359152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Wyłącz mapę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37176" y="2816352"/>
            <a:ext cx="1517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Estymata odpływa szybciej. Włącz z powrotem — wraca na ulice.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02552" y="164592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141C24"/>
          </a:solidFill>
          <a:ln w="12700">
            <a:solidFill>
              <a:srgbClr val="141C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22008" y="1847088"/>
            <a:ext cx="420624" cy="42062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22008" y="1901952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359152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Skoryguj pozycję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816352"/>
            <a:ext cx="1517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 dotknięcie skrzyżowania. Chmura kolapsuje, błąd do zera.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422452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jest w strumieniu wyłącznie po to, żeby narysować szarą linię i policzyć błąd. Estymator go nie widzi.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Działa — i wiemy, gdzie nie działa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4241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liczba pochodzi z uruchamialnego skryptu. Nic tu nie jest oszacowane.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481328"/>
          <a:ext cx="39776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1481328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37760" y="16459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 redukcji błędu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21031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98,9 m → 8,1 m na trasie 2,4 km. Osiem przebiegów na osiem.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2907792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19472" y="3054096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Najlepszy sprzęt w literaturze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czujnik montowany na bucie osiąga 0,32–1,04%. Jesteśmy w tym samym rzędzie wielkości — na telefonie.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41148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Granica: </a:t>
            </a:r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 pieszy schodzi z sieci dróg, mapa przestaje pomagać. Dlatego korekcja ręczna — jedno dotknięcie rozpoznanego skrzyżowania — jest częścią konstrukcji, a nie dodatkiem.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mamy dziś, czego potrzebujemy jutro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2596896" cy="2377440"/>
          </a:xfrm>
          <a:prstGeom prst="roundRect">
            <a:avLst>
              <a:gd name="adj" fmla="val 3077"/>
            </a:avLst>
          </a:prstGeom>
          <a:solidFill>
            <a:srgbClr val="141C24"/>
          </a:solidFill>
          <a:ln w="12700">
            <a:solidFill>
              <a:srgbClr val="141C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" y="1600200"/>
            <a:ext cx="256032" cy="25603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712" y="15819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Działa dziś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93392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Pełne demo end-to-end: symulacja czujników, estymacja, mapa, routing A*, korekcja ręczna. Osiem skryptów pomiarowych — każda liczba z tej prezentacji jest odtwarzalna jednym poleceniem.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73552" y="1371600"/>
            <a:ext cx="2596896" cy="2377440"/>
          </a:xfrm>
          <a:prstGeom prst="roundRect">
            <a:avLst>
              <a:gd name="adj" fmla="val 3077"/>
            </a:avLst>
          </a:prstGeom>
          <a:solidFill>
            <a:srgbClr val="141C24"/>
          </a:solidFill>
          <a:ln w="12700">
            <a:solidFill>
              <a:srgbClr val="141C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9584" y="160020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95344" y="15819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Następny krok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29584" y="1993392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Zebranie surowych odczytów z telefonu i przepuszczenie ich przez ten sam łańcuch. Interfejs estymatora przyjmuje surowe IMU, więc podmiana źródła nie dotyka logiki.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44184" y="1371600"/>
            <a:ext cx="2596896" cy="2377440"/>
          </a:xfrm>
          <a:prstGeom prst="roundRect">
            <a:avLst>
              <a:gd name="adj" fmla="val 3077"/>
            </a:avLst>
          </a:prstGeom>
          <a:solidFill>
            <a:srgbClr val="141C24"/>
          </a:solidFill>
          <a:ln w="12700">
            <a:solidFill>
              <a:srgbClr val="141C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0216" y="1600200"/>
            <a:ext cx="256032" cy="25603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65976" y="15819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Czego szukamy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00216" y="1993392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 z jednostką, która działa w terenie zakłócanym — i dostępu do danych z realnego marszu, żeby zastąpić symulator pomiarem.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0690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Zakłócenia GNSS są warunkami pracy, nie awarią. Nasza odpowiedź nie wymaga kupowania nowego sprzętu.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Nawigacja bez GPS</dc:title>
  <dc:subject>PptxGenJS Presentation</dc:subject>
  <dc:creator>baltic-dual-use</dc:creator>
  <cp:lastModifiedBy>baltic-dual-use</cp:lastModifiedBy>
  <cp:revision>1</cp:revision>
  <dcterms:created xsi:type="dcterms:W3CDTF">2026-09-13T11:24:48Z</dcterms:created>
  <dcterms:modified xsi:type="dcterms:W3CDTF">2026-09-13T11:24:48Z</dcterms:modified>
</cp:coreProperties>
</file>